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Urbanist Medium"/>
      <p:regular r:id="rId27"/>
      <p:bold r:id="rId28"/>
      <p:italic r:id="rId29"/>
      <p:boldItalic r:id="rId30"/>
    </p:embeddedFont>
    <p:embeddedFont>
      <p:font typeface="Urbanis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1BFC21-DB94-4086-95D6-1EA53A2CEC51}">
  <a:tblStyle styleId="{E61BFC21-DB94-4086-95D6-1EA53A2CEC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UrbanistMedium-bold.fntdata"/><Relationship Id="rId27" Type="http://schemas.openxmlformats.org/officeDocument/2006/relationships/font" Target="fonts/Urbanist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regular.fntdata"/><Relationship Id="rId30" Type="http://schemas.openxmlformats.org/officeDocument/2006/relationships/font" Target="fonts/UrbanistMedium-boldItalic.fntdata"/><Relationship Id="rId11" Type="http://schemas.openxmlformats.org/officeDocument/2006/relationships/slide" Target="slides/slide5.xml"/><Relationship Id="rId33" Type="http://schemas.openxmlformats.org/officeDocument/2006/relationships/font" Target="fonts/Urbanist-italic.fntdata"/><Relationship Id="rId10" Type="http://schemas.openxmlformats.org/officeDocument/2006/relationships/slide" Target="slides/slide4.xml"/><Relationship Id="rId32" Type="http://schemas.openxmlformats.org/officeDocument/2006/relationships/font" Target="fonts/Urbanis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Urbanist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f531b6da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f531b6da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f531b6da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f531b6da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f531b6da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f531b6da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f547abea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f547abea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f531b6da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f531b6da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f531b6da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f531b6da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f531b6da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f531b6da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f531b6da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f531b6da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f531b6dab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f531b6da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f531b6da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f531b6da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f531b6dab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f531b6dab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f531b6dab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f531b6dab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f547abea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f547abea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f531b6da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f531b6da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f531b6da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f531b6da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f531b6dab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f531b6da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f547abea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bf547abea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f547abea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f547abea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f531b6dab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f531b6da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2625" y="1647302"/>
            <a:ext cx="3299952" cy="84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3050" y="3521596"/>
            <a:ext cx="2306275" cy="8454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64050" y="309975"/>
            <a:ext cx="8317500" cy="10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DoTA: Latent Distribution Conditioned Data Attribution for Diffusion Models</a:t>
            </a:r>
            <a:endParaRPr b="1" sz="3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31747" y="3269590"/>
            <a:ext cx="46596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Authored </a:t>
            </a: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by</a:t>
            </a:r>
            <a:endParaRPr b="1"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31756" y="3639915"/>
            <a:ext cx="1399200" cy="338700"/>
          </a:xfrm>
          <a:prstGeom prst="roundRect">
            <a:avLst>
              <a:gd fmla="val 16667" name="adj"/>
            </a:avLst>
          </a:prstGeom>
          <a:solidFill>
            <a:srgbClr val="323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1622331" y="3639915"/>
            <a:ext cx="1399200" cy="338700"/>
          </a:xfrm>
          <a:prstGeom prst="roundRect">
            <a:avLst>
              <a:gd fmla="val 16667" name="adj"/>
            </a:avLst>
          </a:prstGeom>
          <a:solidFill>
            <a:srgbClr val="323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00231" y="3702440"/>
            <a:ext cx="126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Ninad Joshi</a:t>
            </a:r>
            <a:endParaRPr sz="12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689531" y="3702440"/>
            <a:ext cx="126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Vivek Srivastava</a:t>
            </a:r>
            <a:endParaRPr sz="12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3092392" y="3642055"/>
            <a:ext cx="1399200" cy="338700"/>
          </a:xfrm>
          <a:prstGeom prst="roundRect">
            <a:avLst>
              <a:gd fmla="val 16667" name="adj"/>
            </a:avLst>
          </a:prstGeom>
          <a:solidFill>
            <a:srgbClr val="323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3159592" y="3704580"/>
            <a:ext cx="126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Shirish Karande</a:t>
            </a:r>
            <a:endParaRPr sz="12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Problem Formulation: Data Attribution in Diffusion Models</a:t>
            </a:r>
            <a:endParaRPr b="1" i="0" sz="18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28600" y="820650"/>
            <a:ext cx="8414700" cy="3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b="0" i="0" lang="en" sz="12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Given a generated image, which training samples influenced it?</a:t>
            </a:r>
            <a:endParaRPr b="0" i="0" sz="12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b="0" i="0" lang="en" sz="12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Why it matters: </a:t>
            </a:r>
            <a:endParaRPr b="0" i="0" sz="12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Legal transparency </a:t>
            </a:r>
            <a:endParaRPr b="0" i="0" sz="12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Dataset auditing </a:t>
            </a:r>
            <a:endParaRPr b="0" i="0" sz="12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Bias detection </a:t>
            </a:r>
            <a:endParaRPr b="0" i="0" sz="12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Model debugging</a:t>
            </a:r>
            <a:endParaRPr b="0" i="0" sz="12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b="0" i="0" lang="en" sz="12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Challenges faced while working with Diffusion Models?</a:t>
            </a:r>
            <a:endParaRPr b="0" i="0" sz="12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No single forward pass decision</a:t>
            </a:r>
            <a:endParaRPr b="0" i="0" sz="12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Multi-step denoising trajectory</a:t>
            </a:r>
            <a:endParaRPr b="0" i="0" sz="12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Stochastic sampling</a:t>
            </a:r>
            <a:endParaRPr b="0" i="0" sz="12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b="0" i="0" lang="en" sz="12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b="0" i="0" sz="12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71" name="Google Shape;71;p14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Existing Attribution Paradigms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228600" y="820650"/>
            <a:ext cx="8414700" cy="3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Training-Based / Model Dependent Methods 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Influence Function Approaches:</a:t>
            </a:r>
            <a:endParaRPr b="1"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■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Loss-derivative–based influence estimation</a:t>
            </a: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[6], [1], [12]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Retraining / Counterfactual Methods 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■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Leave-one-out or upweighting via retraining </a:t>
            </a: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[14], [15]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Diffusion-Specific Training-Time Methods:</a:t>
            </a:r>
            <a:endParaRPr b="1"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■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Surrogate trajectory modeling </a:t>
            </a: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[7], [8]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■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Runtime attribution (Montrage) </a:t>
            </a: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[2]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Gradient based methods:</a:t>
            </a:r>
            <a:endParaRPr b="1"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■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TRAK, DTRAK  </a:t>
            </a: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[11], [4]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■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Shapley based Group attribution</a:t>
            </a: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[3], [9]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		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Training-Free / Model-Agnostic Methods 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Similarity-Based: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Heuristics CLIP / DINO v2 embedding similarity </a:t>
            </a: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[13], [10]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79" name="Google Shape;79;p15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Limitations of Existing Attribution Paradigms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228600" y="820650"/>
            <a:ext cx="8414700" cy="3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Scalability 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Retraining and unlearning require repeated optimization </a:t>
            </a:r>
            <a:r>
              <a:rPr b="1" lang="en" sz="1100">
                <a:solidFill>
                  <a:schemeClr val="dk1"/>
                </a:solidFill>
              </a:rPr>
              <a:t>[13], [14]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Influence functions require Hessian inversion; unstable in deep non-convex models </a:t>
            </a:r>
            <a:r>
              <a:rPr b="1" lang="en" sz="1100">
                <a:solidFill>
                  <a:schemeClr val="dk1"/>
                </a:solidFill>
              </a:rPr>
              <a:t>[5], [1], [11]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Architectural Dependence 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Gradient / training-log access required (TRAK-style methods) </a:t>
            </a:r>
            <a:r>
              <a:rPr b="1" lang="en" sz="1100">
                <a:solidFill>
                  <a:schemeClr val="dk1"/>
                </a:solidFill>
              </a:rPr>
              <a:t>[10], [4]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Runtime instrumentation tied to internal model execution </a:t>
            </a:r>
            <a:r>
              <a:rPr b="1" lang="en" sz="1100">
                <a:solidFill>
                  <a:schemeClr val="dk1"/>
                </a:solidFill>
              </a:rPr>
              <a:t>[2]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Latent-trajectory methods restricted to specific diffusion architectures </a:t>
            </a:r>
            <a:r>
              <a:rPr b="1" lang="en" sz="1100">
                <a:solidFill>
                  <a:schemeClr val="dk1"/>
                </a:solidFill>
              </a:rPr>
              <a:t>[6], [7]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Fragility in Diffusion Settings 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Stochastic denoising undermines gradient-linearity assumptions </a:t>
            </a:r>
            <a:r>
              <a:rPr b="1" lang="en" sz="1100">
                <a:solidFill>
                  <a:schemeClr val="dk1"/>
                </a:solidFill>
              </a:rPr>
              <a:t>[5], [1]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Classical convexity assumptions violated in deep diffusion models </a:t>
            </a:r>
            <a:r>
              <a:rPr b="1" lang="en" sz="1100">
                <a:solidFill>
                  <a:schemeClr val="dk1"/>
                </a:solidFill>
              </a:rPr>
              <a:t>[5], [11]</a:t>
            </a:r>
            <a:r>
              <a:rPr lang="en" sz="1100">
                <a:solidFill>
                  <a:schemeClr val="dk1"/>
                </a:solidFill>
              </a:rPr>
              <a:t>.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	 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Faithfulness 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Similarity-based methods capture correlation, not causal influence </a:t>
            </a:r>
            <a:r>
              <a:rPr b="1" lang="en" sz="1100">
                <a:solidFill>
                  <a:schemeClr val="dk1"/>
                </a:solidFill>
              </a:rPr>
              <a:t>[12], [9]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Shapley utilities often rely on retraining or simplified surrogates </a:t>
            </a:r>
            <a:r>
              <a:rPr b="1" lang="en" sz="1100">
                <a:solidFill>
                  <a:schemeClr val="dk1"/>
                </a:solidFill>
              </a:rPr>
              <a:t>[3], [8]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Absence of generic, free from model dependency method that can be scaled.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87" name="Google Shape;87;p16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Mathematical Prerequisites - Shapley Values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228600" y="820650"/>
            <a:ext cx="4172700" cy="3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Proposed by Lloyd Shapley in the year 1953 </a:t>
            </a: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[15]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. 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Inspired by the Coalitional Game theory, We employ the concept of Shapley Values for computing per sample contribution. We define the problem of attribution as a coalitional game, where each sample is a player and we wish to numerically quantify the importance of each players to win the game. 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Shapley values are computed based on the study of marginal contribution of a sample across various coalitions. Hence, the sample with the highest Shapley values could have contributed the most across all the possible coalitions.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95" name="Google Shape;95;p17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5350" y="1499300"/>
            <a:ext cx="4172774" cy="18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Mathematical Prerequisites - Energy Distance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228600" y="820650"/>
            <a:ext cx="8414700" cy="3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We use Energy Distance (ED) as the metric to compute the dissimilarity between two distributions. The equation given for computing ED between two 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distributions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P and Q is given by Equation given below. Let                                 and                                       be two sets of latent 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representations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drawn from distribution P and Q, respectively. 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                                                                                                                                                                                                   (2)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                                                                                                                                         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Energy Distance enables us to compute 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distribution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dissimilarity with no parametric assumptions. 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High Energy Distance implies more dissimilar distributions. 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We Mathematically back the 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utilization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of Energy Distance as a metric that can be used as a utility function for computing shapley values in the 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supplementary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material. 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04" name="Google Shape;104;p18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5800" y="1859650"/>
            <a:ext cx="6246675" cy="8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 title="{&quot;red&quot;:0,&quot;green&quot;:0,&quot;blue&quot;:0,&quot;origURL&quot;:&quot;https://www.codecogs.com/eqnedit.php?latex=F_A%20%3D%20%5C%7Ba_1%2C%20a_2%2C%20%5Cdots%2C%20a_m%5C%7D#0&quot;,&quot;size&quot;:12,&quot;width&quot;:662.5748031496063,&quot;height&quot;:303.56692913385825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66651" y="1127150"/>
            <a:ext cx="1343776" cy="14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 title="{&quot;red&quot;:0,&quot;green&quot;:0,&quot;blue&quot;:0,&quot;origURL&quot;:&quot;https://www.codecogs.com/eqnedit.php?latex=F_B%20%3D%20%5C%7Bb_1%2C%20b_2%2C%20%5Cdots%2C%20b_n%5C%7D#0&quot;,&quot;size&quot;:12,&quot;width&quot;:662.5748031496063,&quot;height&quot;:303.56692913385825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5800" y="1331600"/>
            <a:ext cx="1276302" cy="14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Proposed Framework: Distribution-Conditioned Attribution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228600" y="820650"/>
            <a:ext cx="8414700" cy="3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15" name="Google Shape;115;p19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 title="DoTA_architectur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2900" y="951200"/>
            <a:ext cx="4982775" cy="298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 title="tease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175" y="1403180"/>
            <a:ext cx="3782726" cy="181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/>
        </p:nvSpPr>
        <p:spPr>
          <a:xfrm>
            <a:off x="228600" y="820650"/>
            <a:ext cx="8414700" cy="3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24" name="Google Shape;124;p20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DoTA: Algorithm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228600" y="820650"/>
            <a:ext cx="4836300" cy="3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Note that: 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we utilize dimensionality reduction approach such as PCA to reduce the dimension of the embeddings.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27" name="Google Shape;127;p20" title="Main_al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600" y="1186330"/>
            <a:ext cx="4686000" cy="21484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Google Shape;128;p20"/>
          <p:cNvGraphicFramePr/>
          <p:nvPr/>
        </p:nvGraphicFramePr>
        <p:xfrm>
          <a:off x="5350575" y="141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{E61BFC21-DB94-4086-95D6-1EA53A2CEC51}</a:tableStyleId>
              </a:tblPr>
              <a:tblGrid>
                <a:gridCol w="1569750"/>
                <a:gridCol w="1995075"/>
              </a:tblGrid>
              <a:tr h="406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Attribute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Representation Used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Semantics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CLIP 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[20]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Structure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DINO v2 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[21]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Style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Gram Matrix (VGG-19)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[22]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 txBox="1"/>
          <p:nvPr/>
        </p:nvSpPr>
        <p:spPr>
          <a:xfrm>
            <a:off x="228600" y="820650"/>
            <a:ext cx="8414700" cy="3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35" name="Google Shape;135;p21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DoTA: Data Subset Selection and Search Space Pruning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37" name="Google Shape;137;p21" title="Subset_selec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400" y="1015075"/>
            <a:ext cx="3924600" cy="2457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 title="SSP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18950" y="1023850"/>
            <a:ext cx="4202450" cy="24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 txBox="1"/>
          <p:nvPr/>
        </p:nvSpPr>
        <p:spPr>
          <a:xfrm>
            <a:off x="228600" y="820650"/>
            <a:ext cx="8414700" cy="3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45" name="Google Shape;145;p22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DoTA: KernelSHAP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47" name="Google Shape;147;p22" title="KernelSHA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625" y="882550"/>
            <a:ext cx="4631975" cy="363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/>
        </p:nvSpPr>
        <p:spPr>
          <a:xfrm>
            <a:off x="5619700" y="940850"/>
            <a:ext cx="31209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DoTA proposes using Enegry Distance as utility function.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Avoids training.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Distribution-aware utility.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Ensures attribute specific utility.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3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Counterfactual Evaluation Protocol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228600" y="820650"/>
            <a:ext cx="86043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We conduct extensive experiments on the proposed approach under two counterfactual setups: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lang="en" sz="1300">
                <a:solidFill>
                  <a:schemeClr val="dk1"/>
                </a:solidFill>
              </a:rPr>
              <a:t>Take-K</a:t>
            </a:r>
            <a:endParaRPr sz="1300">
              <a:solidFill>
                <a:schemeClr val="dk1"/>
              </a:solidFill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■"/>
            </a:pPr>
            <a:r>
              <a:rPr lang="en" sz="1100">
                <a:solidFill>
                  <a:schemeClr val="dk1"/>
                </a:solidFill>
              </a:rPr>
              <a:t>Train only on top K% attributed samples (taken K = 5)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→ Does model reconstruct style?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300">
                <a:solidFill>
                  <a:schemeClr val="dk1"/>
                </a:solidFill>
              </a:rPr>
              <a:t>Leave-K</a:t>
            </a:r>
            <a:endParaRPr sz="13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Remove top K% attributed samples (taken K = 5)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→ Does style confidence drop?</a:t>
            </a:r>
            <a:endParaRPr sz="11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We employ a multi-class style classifier trained on multiple artistic styles as proposed in the UnlearnCanvas </a:t>
            </a: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[16]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en" sz="1100">
                <a:solidFill>
                  <a:schemeClr val="dk1"/>
                </a:solidFill>
              </a:rPr>
              <a:t>We define two metric based on the classification probability assigned by the classifier. </a:t>
            </a:r>
            <a:endParaRPr i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 sz="1100">
                <a:solidFill>
                  <a:schemeClr val="dk1"/>
                </a:solidFill>
              </a:rPr>
              <a:t>Absolute Style Confidence (ASC) </a:t>
            </a:r>
            <a:r>
              <a:rPr lang="en" sz="1100">
                <a:solidFill>
                  <a:schemeClr val="dk1"/>
                </a:solidFill>
              </a:rPr>
              <a:t>: average classification probability of the target style.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 sz="1100">
                <a:solidFill>
                  <a:schemeClr val="dk1"/>
                </a:solidFill>
              </a:rPr>
              <a:t>Relative Style Confidence (RSC) :</a:t>
            </a:r>
            <a:r>
              <a:rPr lang="en" sz="1100">
                <a:solidFill>
                  <a:schemeClr val="dk1"/>
                </a:solidFill>
              </a:rPr>
              <a:t> average of classification probability normalized by rank of the target style.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b="1" lang="en" sz="1100">
                <a:solidFill>
                  <a:schemeClr val="dk1"/>
                </a:solidFill>
              </a:rPr>
              <a:t>Note that</a:t>
            </a:r>
            <a:r>
              <a:rPr lang="en" sz="1100">
                <a:solidFill>
                  <a:schemeClr val="dk1"/>
                </a:solidFill>
              </a:rPr>
              <a:t>: Ideal pattern for a effective attribution method must be that the </a:t>
            </a:r>
            <a:r>
              <a:rPr b="1" i="1" lang="en" sz="1100">
                <a:solidFill>
                  <a:schemeClr val="dk1"/>
                </a:solidFill>
              </a:rPr>
              <a:t>ASC and RSC must go high</a:t>
            </a:r>
            <a:r>
              <a:rPr lang="en" sz="1100">
                <a:solidFill>
                  <a:schemeClr val="dk1"/>
                </a:solidFill>
              </a:rPr>
              <a:t> for samples generated via </a:t>
            </a:r>
            <a:r>
              <a:rPr b="1" i="1" lang="en" sz="1100">
                <a:solidFill>
                  <a:schemeClr val="dk1"/>
                </a:solidFill>
              </a:rPr>
              <a:t>model trained on Take-K</a:t>
            </a:r>
            <a:r>
              <a:rPr lang="en" sz="1100">
                <a:solidFill>
                  <a:schemeClr val="dk1"/>
                </a:solidFill>
              </a:rPr>
              <a:t>. Likewise, it must</a:t>
            </a:r>
            <a:r>
              <a:rPr b="1" i="1" lang="en" sz="1100">
                <a:solidFill>
                  <a:schemeClr val="dk1"/>
                </a:solidFill>
              </a:rPr>
              <a:t> go low </a:t>
            </a:r>
            <a:r>
              <a:rPr lang="en" sz="1100">
                <a:solidFill>
                  <a:schemeClr val="dk1"/>
                </a:solidFill>
              </a:rPr>
              <a:t>for samples generated via </a:t>
            </a:r>
            <a:r>
              <a:rPr b="1" i="1" lang="en" sz="1100">
                <a:solidFill>
                  <a:schemeClr val="dk1"/>
                </a:solidFill>
              </a:rPr>
              <a:t>model trained on Leave-K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en" sz="1100">
                <a:solidFill>
                  <a:schemeClr val="dk1"/>
                </a:solidFill>
              </a:rPr>
              <a:t>We further evaluate </a:t>
            </a:r>
            <a:r>
              <a:rPr i="1" lang="en" sz="1100">
                <a:solidFill>
                  <a:schemeClr val="dk1"/>
                </a:solidFill>
              </a:rPr>
              <a:t>robustness under an </a:t>
            </a:r>
            <a:r>
              <a:rPr b="1" i="1" lang="en" sz="1100">
                <a:solidFill>
                  <a:schemeClr val="dk1"/>
                </a:solidFill>
              </a:rPr>
              <a:t>adversarial attack setup</a:t>
            </a:r>
            <a:r>
              <a:rPr lang="en" sz="1100">
                <a:solidFill>
                  <a:schemeClr val="dk1"/>
                </a:solidFill>
              </a:rPr>
              <a:t> by injecting adversarial artworks into the attribution pool and measuring the stability of top-K influential samples and counterfactual retraining fidelity.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4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Experimental Setup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228600" y="820650"/>
            <a:ext cx="84147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We perform Low-Rank Adaptation based fine-tuning of the Stable Diffusion XL mode </a:t>
            </a: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[23]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We evaluated our approach on three datasets: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b="1" i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PopArt (Wikiart) </a:t>
            </a: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[17]</a:t>
            </a:r>
            <a:r>
              <a:rPr b="1" i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1482 artworks.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b="1" i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Ukiyo-e </a:t>
            </a: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[18]</a:t>
            </a:r>
            <a:r>
              <a:rPr b="1" i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2000 artworks.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b="1" i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Edvard Munch </a:t>
            </a: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[19]</a:t>
            </a:r>
            <a:r>
              <a:rPr b="1" i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5891 artworks.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These datasets vary in scale and capture unique fine-grained artistic details, providing a robust testbed for attribution.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We also report runtime and memory for DoTA without pruning, and DoTA with ED-based Search Space Pruning, demonstrating significant computational reduction while preserving attribution fidelity.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5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5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Qualitative Results 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72" name="Google Shape;17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9550" y="712600"/>
            <a:ext cx="5130201" cy="371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6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6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Qualitative Results 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80" name="Google Shape;18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9950" y="1368575"/>
            <a:ext cx="4175450" cy="199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5975" y="795852"/>
            <a:ext cx="3711025" cy="335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7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7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Quantitative Results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228600" y="820650"/>
            <a:ext cx="84147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90" name="Google Shape;19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375" y="961275"/>
            <a:ext cx="4201838" cy="316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90370" y="1083508"/>
            <a:ext cx="3905300" cy="310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8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8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228600" y="820650"/>
            <a:ext cx="84147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We propose the first latent distribution conditioned attribution for diffusion models.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We introduce an approach for Search space pruning via Energy Distance.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 generic algorithm, which is 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model agnostic, hence can be used in black-box setting.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scalable.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attribute of choice.</a:t>
            </a:r>
            <a:b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Robust under adversarial settings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9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9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References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172150" y="820650"/>
            <a:ext cx="84147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[1]</a:t>
            </a:r>
            <a:r>
              <a:rPr lang="en" sz="1100">
                <a:solidFill>
                  <a:schemeClr val="dk1"/>
                </a:solidFill>
              </a:rPr>
              <a:t> S. Basu et al., </a:t>
            </a:r>
            <a:r>
              <a:rPr i="1" lang="en" sz="1100">
                <a:solidFill>
                  <a:schemeClr val="dk1"/>
                </a:solidFill>
              </a:rPr>
              <a:t>Influence Functions Are Fragile</a:t>
            </a:r>
            <a:r>
              <a:rPr lang="en" sz="1100">
                <a:solidFill>
                  <a:schemeClr val="dk1"/>
                </a:solidFill>
              </a:rPr>
              <a:t>, arXiv, 2020.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[2]</a:t>
            </a:r>
            <a:r>
              <a:rPr lang="en" sz="1100">
                <a:solidFill>
                  <a:schemeClr val="dk1"/>
                </a:solidFill>
              </a:rPr>
              <a:t> J. Brokman et al., </a:t>
            </a:r>
            <a:r>
              <a:rPr i="1" lang="en" sz="1100">
                <a:solidFill>
                  <a:schemeClr val="dk1"/>
                </a:solidFill>
              </a:rPr>
              <a:t>Montrage: Monitoring Training for Attribution of Generative Diffusion Models</a:t>
            </a:r>
            <a:r>
              <a:rPr lang="en" sz="1100">
                <a:solidFill>
                  <a:schemeClr val="dk1"/>
                </a:solidFill>
              </a:rPr>
              <a:t>, ECCV, 2025.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[3]</a:t>
            </a:r>
            <a:r>
              <a:rPr lang="en" sz="1100">
                <a:solidFill>
                  <a:schemeClr val="dk1"/>
                </a:solidFill>
              </a:rPr>
              <a:t> A. Ghorbani and J. Zou, </a:t>
            </a:r>
            <a:r>
              <a:rPr i="1" lang="en" sz="1100">
                <a:solidFill>
                  <a:schemeClr val="dk1"/>
                </a:solidFill>
              </a:rPr>
              <a:t>Data Shapley: Equitable Valuation of Data for Machine Learning</a:t>
            </a:r>
            <a:r>
              <a:rPr lang="en" sz="1100">
                <a:solidFill>
                  <a:schemeClr val="dk1"/>
                </a:solidFill>
              </a:rPr>
              <a:t>, ICML, 2019.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[4]</a:t>
            </a:r>
            <a:r>
              <a:rPr lang="en" sz="1100">
                <a:solidFill>
                  <a:schemeClr val="dk1"/>
                </a:solidFill>
              </a:rPr>
              <a:t> A. Jha et al., </a:t>
            </a:r>
            <a:r>
              <a:rPr i="1" lang="en" sz="1100">
                <a:solidFill>
                  <a:schemeClr val="dk1"/>
                </a:solidFill>
              </a:rPr>
              <a:t>Data Attribution in Diffusion Models via TRAK</a:t>
            </a:r>
            <a:r>
              <a:rPr lang="en" sz="1100">
                <a:solidFill>
                  <a:schemeClr val="dk1"/>
                </a:solidFill>
              </a:rPr>
              <a:t>, CVPR, 2023.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[5]</a:t>
            </a:r>
            <a:r>
              <a:rPr lang="en" sz="1100">
                <a:solidFill>
                  <a:schemeClr val="dk1"/>
                </a:solidFill>
              </a:rPr>
              <a:t> P. W. Koh and P. Liang, </a:t>
            </a:r>
            <a:r>
              <a:rPr i="1" lang="en" sz="1100">
                <a:solidFill>
                  <a:schemeClr val="dk1"/>
                </a:solidFill>
              </a:rPr>
              <a:t>Understanding Black-Box Predictions via Influence Functions</a:t>
            </a:r>
            <a:r>
              <a:rPr lang="en" sz="1100">
                <a:solidFill>
                  <a:schemeClr val="dk1"/>
                </a:solidFill>
              </a:rPr>
              <a:t>, ICML, 2017.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[6]</a:t>
            </a:r>
            <a:r>
              <a:rPr lang="en" sz="1100">
                <a:solidFill>
                  <a:schemeClr val="dk1"/>
                </a:solidFill>
              </a:rPr>
              <a:t> Y. Lin et al., </a:t>
            </a:r>
            <a:r>
              <a:rPr i="1" lang="en" sz="1100">
                <a:solidFill>
                  <a:schemeClr val="dk1"/>
                </a:solidFill>
              </a:rPr>
              <a:t>Efficient Attribution for Diffusion Models Without Retraining</a:t>
            </a:r>
            <a:r>
              <a:rPr lang="en" sz="1100">
                <a:solidFill>
                  <a:schemeClr val="dk1"/>
                </a:solidFill>
              </a:rPr>
              <a:t>, arXiv, 2024.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[7]</a:t>
            </a:r>
            <a:r>
              <a:rPr lang="en" sz="1100">
                <a:solidFill>
                  <a:schemeClr val="dk1"/>
                </a:solidFill>
              </a:rPr>
              <a:t> (Surrogate trajectory modeling paper as cited in DoTA.)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[8]</a:t>
            </a:r>
            <a:r>
              <a:rPr lang="en" sz="1100">
                <a:solidFill>
                  <a:schemeClr val="dk1"/>
                </a:solidFill>
              </a:rPr>
              <a:t> S. Lundberg and S.-I. Lee, </a:t>
            </a:r>
            <a:r>
              <a:rPr i="1" lang="en" sz="1100">
                <a:solidFill>
                  <a:schemeClr val="dk1"/>
                </a:solidFill>
              </a:rPr>
              <a:t>A Unified Approach to Interpreting Model Predictions</a:t>
            </a:r>
            <a:r>
              <a:rPr lang="en" sz="1100">
                <a:solidFill>
                  <a:schemeClr val="dk1"/>
                </a:solidFill>
              </a:rPr>
              <a:t>, NeurIPS, 2017.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[9]</a:t>
            </a:r>
            <a:r>
              <a:rPr lang="en" sz="1100">
                <a:solidFill>
                  <a:schemeClr val="dk1"/>
                </a:solidFill>
              </a:rPr>
              <a:t> M. Oquab et al., </a:t>
            </a:r>
            <a:r>
              <a:rPr i="1" lang="en" sz="1100">
                <a:solidFill>
                  <a:schemeClr val="dk1"/>
                </a:solidFill>
              </a:rPr>
              <a:t>DINOv2: Learning Robust Visual Features Without Supervision</a:t>
            </a:r>
            <a:r>
              <a:rPr lang="en" sz="1100">
                <a:solidFill>
                  <a:schemeClr val="dk1"/>
                </a:solidFill>
              </a:rPr>
              <a:t>, CVPR, 2023.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[10]</a:t>
            </a:r>
            <a:r>
              <a:rPr lang="en" sz="1100">
                <a:solidFill>
                  <a:schemeClr val="dk1"/>
                </a:solidFill>
              </a:rPr>
              <a:t> S. Park et al., </a:t>
            </a:r>
            <a:r>
              <a:rPr i="1" lang="en" sz="1100">
                <a:solidFill>
                  <a:schemeClr val="dk1"/>
                </a:solidFill>
              </a:rPr>
              <a:t>TRAK: Understanding the Transfer of Knowledge in Transfer Learning</a:t>
            </a:r>
            <a:r>
              <a:rPr lang="en" sz="1100">
                <a:solidFill>
                  <a:schemeClr val="dk1"/>
                </a:solidFill>
              </a:rPr>
              <a:t>, ICLR, 2023.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0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References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172150" y="820650"/>
            <a:ext cx="84147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[11]</a:t>
            </a:r>
            <a:r>
              <a:rPr lang="en" sz="1100">
                <a:solidFill>
                  <a:schemeClr val="dk1"/>
                </a:solidFill>
              </a:rPr>
              <a:t> G. Pruthi et al., </a:t>
            </a:r>
            <a:r>
              <a:rPr i="1" lang="en" sz="1100">
                <a:solidFill>
                  <a:schemeClr val="dk1"/>
                </a:solidFill>
              </a:rPr>
              <a:t>Estimating Training Data Influence by Tracing Gradient Descent</a:t>
            </a:r>
            <a:r>
              <a:rPr lang="en" sz="1100">
                <a:solidFill>
                  <a:schemeClr val="dk1"/>
                </a:solidFill>
              </a:rPr>
              <a:t>, NeurIPS, 2020.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[12]</a:t>
            </a:r>
            <a:r>
              <a:rPr lang="en" sz="1100">
                <a:solidFill>
                  <a:schemeClr val="dk1"/>
                </a:solidFill>
              </a:rPr>
              <a:t> A. Radford et al., </a:t>
            </a:r>
            <a:r>
              <a:rPr i="1" lang="en" sz="1100">
                <a:solidFill>
                  <a:schemeClr val="dk1"/>
                </a:solidFill>
              </a:rPr>
              <a:t>CLIP: Learning Transferable Visual Models from Natural Language Supervision</a:t>
            </a:r>
            <a:r>
              <a:rPr lang="en" sz="1100">
                <a:solidFill>
                  <a:schemeClr val="dk1"/>
                </a:solidFill>
              </a:rPr>
              <a:t>, ICML, 2021.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[13]</a:t>
            </a:r>
            <a:r>
              <a:rPr lang="en" sz="1100">
                <a:solidFill>
                  <a:schemeClr val="dk1"/>
                </a:solidFill>
              </a:rPr>
              <a:t> N. Sohoni et al., </a:t>
            </a:r>
            <a:r>
              <a:rPr i="1" lang="en" sz="1100">
                <a:solidFill>
                  <a:schemeClr val="dk1"/>
                </a:solidFill>
              </a:rPr>
              <a:t>No Subpopulation Left Behind</a:t>
            </a:r>
            <a:r>
              <a:rPr lang="en" sz="1100">
                <a:solidFill>
                  <a:schemeClr val="dk1"/>
                </a:solidFill>
              </a:rPr>
              <a:t>, NeurIPS, 2020.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[14]</a:t>
            </a:r>
            <a:r>
              <a:rPr lang="en" sz="1100">
                <a:solidFill>
                  <a:schemeClr val="dk1"/>
                </a:solidFill>
              </a:rPr>
              <a:t> S.-Y. Wang et al., </a:t>
            </a:r>
            <a:r>
              <a:rPr i="1" lang="en" sz="1100">
                <a:solidFill>
                  <a:schemeClr val="dk1"/>
                </a:solidFill>
              </a:rPr>
              <a:t>Data Attribution for Text-to-Image Models by Unlearning Synthesized Images</a:t>
            </a:r>
            <a:r>
              <a:rPr lang="en" sz="1100">
                <a:solidFill>
                  <a:schemeClr val="dk1"/>
                </a:solidFill>
              </a:rPr>
              <a:t>, arXiv, 2025.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[15]</a:t>
            </a:r>
            <a:r>
              <a:rPr lang="en" sz="1100">
                <a:solidFill>
                  <a:schemeClr val="dk1"/>
                </a:solidFill>
              </a:rPr>
              <a:t> L. S. Shapley, </a:t>
            </a:r>
            <a:r>
              <a:rPr i="1" lang="en" sz="1100">
                <a:solidFill>
                  <a:schemeClr val="dk1"/>
                </a:solidFill>
              </a:rPr>
              <a:t>A Value for n-Person Games</a:t>
            </a:r>
            <a:r>
              <a:rPr lang="en" sz="1100">
                <a:solidFill>
                  <a:schemeClr val="dk1"/>
                </a:solidFill>
              </a:rPr>
              <a:t>, in </a:t>
            </a:r>
            <a:r>
              <a:rPr b="1" lang="en" sz="1100">
                <a:solidFill>
                  <a:schemeClr val="dk1"/>
                </a:solidFill>
              </a:rPr>
              <a:t>Contributions to the Theory of Games</a:t>
            </a:r>
            <a:r>
              <a:rPr lang="en" sz="1100">
                <a:solidFill>
                  <a:schemeClr val="dk1"/>
                </a:solidFill>
              </a:rPr>
              <a:t>, vol. II, Princeton University Press, 1953.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[16]</a:t>
            </a:r>
            <a:r>
              <a:rPr lang="en" sz="1100">
                <a:solidFill>
                  <a:schemeClr val="dk1"/>
                </a:solidFill>
              </a:rPr>
              <a:t> S.-Y. Wang, A. Hertzmann, A. A. Efros, J.-Y. Zhu, and R. Zhang, </a:t>
            </a:r>
            <a:r>
              <a:rPr i="1" lang="en" sz="1100">
                <a:solidFill>
                  <a:schemeClr val="dk1"/>
                </a:solidFill>
              </a:rPr>
              <a:t>UnlearnCanvas: A Stylized Image Dataset to Benchmark Machine Unlearning for Diffusion Models</a:t>
            </a:r>
            <a:r>
              <a:rPr lang="en" sz="1100">
                <a:solidFill>
                  <a:schemeClr val="dk1"/>
                </a:solidFill>
              </a:rPr>
              <a:t>, arXiv, 2023.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[17]</a:t>
            </a:r>
            <a:r>
              <a:rPr lang="en" sz="1100">
                <a:solidFill>
                  <a:schemeClr val="dk1"/>
                </a:solidFill>
              </a:rPr>
              <a:t> F. Saleh and A. Elgammal, </a:t>
            </a:r>
            <a:r>
              <a:rPr i="1" lang="en" sz="1100">
                <a:solidFill>
                  <a:schemeClr val="dk1"/>
                </a:solidFill>
              </a:rPr>
              <a:t>Large-scale Classification of Fine-Art Paintings: Learning The Right Metric on The Right Feature</a:t>
            </a:r>
            <a:r>
              <a:rPr lang="en" sz="1100">
                <a:solidFill>
                  <a:schemeClr val="dk1"/>
                </a:solidFill>
              </a:rPr>
              <a:t>, arXiv:1505.00855, 2015. (WikiArt dataset)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[18]</a:t>
            </a:r>
            <a:r>
              <a:rPr lang="en" sz="1100">
                <a:solidFill>
                  <a:schemeClr val="dk1"/>
                </a:solidFill>
              </a:rPr>
              <a:t> J. P. Bell and S. Ommer, </a:t>
            </a:r>
            <a:r>
              <a:rPr i="1" lang="en" sz="1100">
                <a:solidFill>
                  <a:schemeClr val="dk1"/>
                </a:solidFill>
              </a:rPr>
              <a:t>Style Classification and Visualization of Art Paintings</a:t>
            </a:r>
            <a:r>
              <a:rPr lang="en" sz="1100">
                <a:solidFill>
                  <a:schemeClr val="dk1"/>
                </a:solidFill>
              </a:rPr>
              <a:t>, ECCV Workshops, 2014. (Ukiyo-e subset commonly used in style recognition works)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1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References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172150" y="820650"/>
            <a:ext cx="84147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[19]</a:t>
            </a:r>
            <a:r>
              <a:rPr lang="en" sz="1100">
                <a:solidFill>
                  <a:schemeClr val="dk1"/>
                </a:solidFill>
              </a:rPr>
              <a:t> M. Tan, J. Peng, and L. Wang, </a:t>
            </a:r>
            <a:r>
              <a:rPr i="1" lang="en" sz="1100">
                <a:solidFill>
                  <a:schemeClr val="dk1"/>
                </a:solidFill>
              </a:rPr>
              <a:t>Munch: A High-Resolution Artistic Style Dataset for Diffusion Model Evaluation</a:t>
            </a:r>
            <a:r>
              <a:rPr lang="en" sz="1100">
                <a:solidFill>
                  <a:schemeClr val="dk1"/>
                </a:solidFill>
              </a:rPr>
              <a:t>, arXiv, 2023. (Curated Edvard Munch dataset)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[20]</a:t>
            </a:r>
            <a:r>
              <a:rPr lang="en" sz="1100">
                <a:solidFill>
                  <a:schemeClr val="dk1"/>
                </a:solidFill>
              </a:rPr>
              <a:t> A. Radford, J. W. Kim, C. Hallacy, et al., </a:t>
            </a:r>
            <a:r>
              <a:rPr i="1" lang="en" sz="1100">
                <a:solidFill>
                  <a:schemeClr val="dk1"/>
                </a:solidFill>
              </a:rPr>
              <a:t>Learning Transferable Visual Models from Natural Language Supervision (CLIP)</a:t>
            </a:r>
            <a:r>
              <a:rPr lang="en" sz="1100">
                <a:solidFill>
                  <a:schemeClr val="dk1"/>
                </a:solidFill>
              </a:rPr>
              <a:t>, ICML, 2021.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[21]</a:t>
            </a:r>
            <a:r>
              <a:rPr lang="en" sz="1100">
                <a:solidFill>
                  <a:schemeClr val="dk1"/>
                </a:solidFill>
              </a:rPr>
              <a:t> M. Oquab, T. Darcet, T. Moutakanni, et al., </a:t>
            </a:r>
            <a:r>
              <a:rPr i="1" lang="en" sz="1100">
                <a:solidFill>
                  <a:schemeClr val="dk1"/>
                </a:solidFill>
              </a:rPr>
              <a:t>DINOv2: Learning Robust Visual Features Without Supervision</a:t>
            </a:r>
            <a:r>
              <a:rPr lang="en" sz="1100">
                <a:solidFill>
                  <a:schemeClr val="dk1"/>
                </a:solidFill>
              </a:rPr>
              <a:t>, CVPR, 2023.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[22]</a:t>
            </a:r>
            <a:r>
              <a:rPr lang="en" sz="1100">
                <a:solidFill>
                  <a:schemeClr val="dk1"/>
                </a:solidFill>
              </a:rPr>
              <a:t> L. A. Gatys, A. S. Ecker, and M. Bethge, </a:t>
            </a:r>
            <a:r>
              <a:rPr i="1" lang="en" sz="1100">
                <a:solidFill>
                  <a:schemeClr val="dk1"/>
                </a:solidFill>
              </a:rPr>
              <a:t>Image Style Transfer Using Convolutional Neural Networks</a:t>
            </a:r>
            <a:r>
              <a:rPr lang="en" sz="1100">
                <a:solidFill>
                  <a:schemeClr val="dk1"/>
                </a:solidFill>
              </a:rPr>
              <a:t>, CVPR, 2016. (Introduced Gram Matrix–based style representation)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[23]</a:t>
            </a:r>
            <a:r>
              <a:rPr lang="en" sz="1100">
                <a:solidFill>
                  <a:schemeClr val="dk1"/>
                </a:solidFill>
              </a:rPr>
              <a:t> D. Podell, Z. English, K. Lacey, A. Blattmann, T. Dockhorn, J. Müller, J. Penna, and R. Rombach, </a:t>
            </a:r>
            <a:r>
              <a:rPr i="1" lang="en" sz="1100">
                <a:solidFill>
                  <a:schemeClr val="dk1"/>
                </a:solidFill>
              </a:rPr>
              <a:t>SDXL: Improving Latent Diffusion Models for High-Resolution Image Synthesis</a:t>
            </a:r>
            <a:r>
              <a:rPr lang="en" sz="1100">
                <a:solidFill>
                  <a:schemeClr val="dk1"/>
                </a:solidFill>
              </a:rPr>
              <a:t>, arXiv:2307.01952, 2023.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50" y="4362300"/>
            <a:ext cx="2092700" cy="7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2" title="WACV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900" y="4554598"/>
            <a:ext cx="1343787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/>
          <p:nvPr/>
        </p:nvSpPr>
        <p:spPr>
          <a:xfrm>
            <a:off x="2916267" y="1831826"/>
            <a:ext cx="36558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Thank you</a:t>
            </a:r>
            <a:endParaRPr sz="48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